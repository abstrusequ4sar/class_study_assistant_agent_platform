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106070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F4E79"/>
                </a:solidFill>
                <a:latin typeface="Microsoft YaHei"/>
              </a:rPr>
              <a:t>课程学习助手 Agent 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965960"/>
            <a:ext cx="102412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>
                <a:solidFill>
                  <a:srgbClr val="5F6B73"/>
                </a:solidFill>
                <a:latin typeface="Microsoft YaHei"/>
              </a:rPr>
              <a:t>面向多课程学习的资料检索、智能问答、学习规划与任务管理平台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2834640"/>
            <a:ext cx="2148840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880360"/>
            <a:ext cx="2002536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63238"/>
                </a:solidFill>
                <a:latin typeface="Microsoft YaHei"/>
              </a:rPr>
              <a:t>资料可检索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00984" y="2834640"/>
            <a:ext cx="2148840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4136" y="2880360"/>
            <a:ext cx="2002536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63238"/>
                </a:solidFill>
                <a:latin typeface="Microsoft YaHei"/>
              </a:rPr>
              <a:t>Agent 可执行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15584" y="2834640"/>
            <a:ext cx="2148840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88736" y="2880360"/>
            <a:ext cx="2002536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63238"/>
                </a:solidFill>
                <a:latin typeface="Microsoft YaHei"/>
              </a:rPr>
              <a:t>来源可跳转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0183" y="2834640"/>
            <a:ext cx="2148840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2880360"/>
            <a:ext cx="2002536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63238"/>
                </a:solidFill>
                <a:latin typeface="Microsoft YaHei"/>
              </a:rPr>
              <a:t>计划可落地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4773168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2F75B5"/>
                </a:solidFill>
                <a:latin typeface="Microsoft YaHei"/>
              </a:rPr>
              <a:t>大型程序设计实践汇报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285232"/>
            <a:ext cx="29260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5F6B73"/>
                </a:solidFill>
                <a:latin typeface="Microsoft YaHei"/>
              </a:rPr>
              <a:t>2026 年 7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6062472"/>
            <a:ext cx="102412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5F6B73"/>
                </a:solidFill>
                <a:latin typeface="Microsoft YaHei"/>
              </a:rPr>
              <a:t>汇报重点：为什么做、每项功能如何实现、实际优势是什么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为什么做：学习问题不是“缺一个聊天框”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024128"/>
            <a:ext cx="523036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207008"/>
            <a:ext cx="566928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2F75B5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1207008"/>
            <a:ext cx="35661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1F4E79"/>
                </a:solidFill>
                <a:latin typeface="Microsoft YaHei"/>
              </a:rPr>
              <a:t>资料分散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19072"/>
            <a:ext cx="3840480" cy="7955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5F6B73"/>
                </a:solidFill>
                <a:latin typeface="Microsoft YaHei"/>
              </a:rPr>
              <a:t>课件、笔记、作业和实验文档分布在不同位置，找资料成本高。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024128"/>
            <a:ext cx="523036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207008"/>
            <a:ext cx="566928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2F75B5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1207008"/>
            <a:ext cx="35661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1F4E79"/>
                </a:solidFill>
                <a:latin typeface="Microsoft YaHei"/>
              </a:rPr>
              <a:t>重点难找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3176" y="1719072"/>
            <a:ext cx="3840480" cy="7955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5F6B73"/>
                </a:solidFill>
                <a:latin typeface="Microsoft YaHei"/>
              </a:rPr>
              <a:t>文档数量增加后，仅靠文件名不能快速定位知识片段。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3218688"/>
            <a:ext cx="523036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3401568"/>
            <a:ext cx="566928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2F75B5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3401568"/>
            <a:ext cx="35661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1F4E79"/>
                </a:solidFill>
                <a:latin typeface="Microsoft YaHei"/>
              </a:rPr>
              <a:t>计划不清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913632"/>
            <a:ext cx="3840480" cy="7955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5F6B73"/>
                </a:solidFill>
                <a:latin typeface="Microsoft YaHei"/>
              </a:rPr>
              <a:t>“两周复习完”仍是宏观目标，缺少阶段与每日可执行安排。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3218688"/>
            <a:ext cx="523036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3401568"/>
            <a:ext cx="566928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2F75B5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3401568"/>
            <a:ext cx="35661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1F4E79"/>
                </a:solidFill>
                <a:latin typeface="Microsoft YaHei"/>
              </a:rPr>
              <a:t>任务易漏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3176" y="3913632"/>
            <a:ext cx="3840480" cy="7955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5F6B73"/>
                </a:solidFill>
                <a:latin typeface="Microsoft YaHei"/>
              </a:rPr>
              <a:t>作业、实验、复习计划持续产生，只靠记忆难以跟踪。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5532120"/>
            <a:ext cx="10863072" cy="621792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5669280"/>
            <a:ext cx="10332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因此，需要的不只是回答问题，而是将资料、问答、计划和任务串成一个可持续执行的学习闭环。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项目目标：建立以课程为中心的学习闭环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1920240"/>
            <a:ext cx="1481328" cy="749808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965960"/>
            <a:ext cx="1335024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63238"/>
                </a:solidFill>
                <a:latin typeface="Microsoft YaHei"/>
              </a:rPr>
              <a:t>资料入库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2103120"/>
            <a:ext cx="31089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04872" y="1920240"/>
            <a:ext cx="1481328" cy="749808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8024" y="1965960"/>
            <a:ext cx="1335024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63238"/>
                </a:solidFill>
                <a:latin typeface="Microsoft YaHei"/>
              </a:rPr>
              <a:t>内容检索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1063" y="2103120"/>
            <a:ext cx="31089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920240"/>
            <a:ext cx="1481328" cy="74980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965960"/>
            <a:ext cx="1335024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63238"/>
                </a:solidFill>
                <a:latin typeface="Microsoft YaHei"/>
              </a:rPr>
              <a:t>Agent 推理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1304" y="2103120"/>
            <a:ext cx="31089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920240"/>
            <a:ext cx="1481328" cy="74980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965960"/>
            <a:ext cx="1335024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63238"/>
                </a:solidFill>
                <a:latin typeface="Microsoft YaHei"/>
              </a:rPr>
              <a:t>计划拆解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2103120"/>
            <a:ext cx="31089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920240"/>
            <a:ext cx="1481328" cy="749808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1965960"/>
            <a:ext cx="1335024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63238"/>
                </a:solidFill>
                <a:latin typeface="Microsoft YaHei"/>
              </a:rPr>
              <a:t>任务执行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1784" y="2103120"/>
            <a:ext cx="310896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5832" y="1920240"/>
            <a:ext cx="1481328" cy="74980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58984" y="1965960"/>
            <a:ext cx="1335024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63238"/>
                </a:solidFill>
                <a:latin typeface="Microsoft YaHei"/>
              </a:rPr>
              <a:t>进度反馈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73552"/>
            <a:ext cx="3456432" cy="162763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3374136"/>
            <a:ext cx="316382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对学生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" y="3730752"/>
            <a:ext cx="3163824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63238"/>
                </a:solidFill>
                <a:latin typeface="Microsoft YaHei"/>
              </a:rPr>
              <a:t>• 从“找文件”变成“找答案”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63238"/>
                </a:solidFill>
                <a:latin typeface="Microsoft YaHei"/>
              </a:rPr>
              <a:t>• 从“有目标”变成“今天做什么”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3273552"/>
            <a:ext cx="3456432" cy="1627632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3374136"/>
            <a:ext cx="316382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对系统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3730752"/>
            <a:ext cx="3163824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63238"/>
                </a:solidFill>
                <a:latin typeface="Microsoft YaHei"/>
              </a:rPr>
              <a:t>• 业务 CRUD 与 Agent 工具统一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63238"/>
                </a:solidFill>
                <a:latin typeface="Microsoft YaHei"/>
              </a:rPr>
              <a:t>• 所有智能结果可存储、可追溯、可执行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47304" y="3273552"/>
            <a:ext cx="3456432" cy="1627632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3374136"/>
            <a:ext cx="316382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对工程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3730752"/>
            <a:ext cx="3163824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63238"/>
                </a:solidFill>
                <a:latin typeface="Microsoft YaHei"/>
              </a:rPr>
              <a:t>• 外部 AI 不可用时基础功能仍可运行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63238"/>
                </a:solidFill>
                <a:latin typeface="Microsoft YaHei"/>
              </a:rPr>
              <a:t>• 模型、数据库和检索服务可替换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623560"/>
            <a:ext cx="102870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  <a:latin typeface="Microsoft YaHei"/>
              </a:rPr>
              <a:t>最终目标：不让 AI 停留在“给建议”，而是把建议转化为可核查的答案和可落地的学习任务。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需求完成全景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需求分析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078992"/>
            <a:ext cx="11109960" cy="1033271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141732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基本功能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261872"/>
            <a:ext cx="80010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263238"/>
                </a:solidFill>
                <a:latin typeface="Microsoft YaHei"/>
              </a:rPr>
              <a:t>认证、课程、资料、Agent 对话、学习计划、待办、个人中心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1325880"/>
            <a:ext cx="1005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05872" y="1371600"/>
            <a:ext cx="859536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✓ 已完成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313432"/>
            <a:ext cx="11109960" cy="1033271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60320"/>
            <a:ext cx="141732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后端能力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496312"/>
            <a:ext cx="80010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263238"/>
                </a:solidFill>
                <a:latin typeface="Microsoft YaHei"/>
              </a:rPr>
              <a:t>8 张业务表、34 个 OpenAPI 操作、RESTful CRUD、文件存储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32720" y="2560320"/>
            <a:ext cx="1005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05872" y="2606040"/>
            <a:ext cx="859536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✓ 已完成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3547872"/>
            <a:ext cx="11109960" cy="1033271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794760"/>
            <a:ext cx="141732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高级功能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730752"/>
            <a:ext cx="80010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263238"/>
                </a:solidFill>
                <a:latin typeface="Microsoft YaHei"/>
              </a:rPr>
              <a:t>来源引用与跳转、知识点整理、智能任务拆解、多课程规划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3794760"/>
            <a:ext cx="1005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05872" y="3840480"/>
            <a:ext cx="859536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✓ 已完成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4782312"/>
            <a:ext cx="11109960" cy="1033271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029200"/>
            <a:ext cx="141732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工程增强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965192"/>
            <a:ext cx="80010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263238"/>
                </a:solidFill>
                <a:latin typeface="Microsoft YaHei"/>
              </a:rPr>
              <a:t>SSE 流式输出、双协议模型、离线降级、日历提醒、XSS 消毒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5029200"/>
            <a:ext cx="1005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05872" y="5074920"/>
            <a:ext cx="859536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✓ 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6053328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F75B5"/>
                </a:solidFill>
                <a:latin typeface="Microsoft YaHei"/>
              </a:rPr>
              <a:t>需求对照的核心是：每个功能都有对应页面、API、数据结构和验证方式。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914400"/>
            <a:ext cx="10287000" cy="768096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996696"/>
            <a:ext cx="16002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F75B5"/>
                </a:solidFill>
                <a:latin typeface="Microsoft YaHei"/>
              </a:rPr>
              <a:t>表现层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987552"/>
            <a:ext cx="78181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Vue 3 / Element Plus / Pinia / Vue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7296" y="1682495"/>
            <a:ext cx="4114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1965960"/>
            <a:ext cx="10287000" cy="768096"/>
          </a:xfrm>
          <a:prstGeom prst="roundRect">
            <a:avLst/>
          </a:prstGeom>
          <a:solidFill>
            <a:srgbClr val="F4F8FC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048255"/>
            <a:ext cx="16002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  <a:latin typeface="Microsoft YaHei"/>
              </a:rPr>
              <a:t>API 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039112"/>
            <a:ext cx="78181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FastAPI 路由：auth · courses · materials · chat · plans ·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7296" y="2734056"/>
            <a:ext cx="4114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017520"/>
            <a:ext cx="10287000" cy="768096"/>
          </a:xfrm>
          <a:prstGeom prst="roundRect">
            <a:avLst/>
          </a:prstGeom>
          <a:solidFill>
            <a:srgbClr val="EAF4E4"/>
          </a:solidFill>
          <a:ln w="1778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099815"/>
            <a:ext cx="16002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70AD47"/>
                </a:solidFill>
                <a:latin typeface="Microsoft YaHei"/>
              </a:rPr>
              <a:t>业务服务层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090672"/>
            <a:ext cx="78181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Agent · LLM 统一客户端 · Retrieval · Extraction · Embedding ·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7296" y="3785615"/>
            <a:ext cx="4114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069079"/>
            <a:ext cx="10287000" cy="768096"/>
          </a:xfrm>
          <a:prstGeom prst="roundRect">
            <a:avLst/>
          </a:prstGeom>
          <a:solidFill>
            <a:srgbClr val="FCEDE3"/>
          </a:solidFill>
          <a:ln w="1778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151375"/>
            <a:ext cx="16002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D7D31"/>
                </a:solidFill>
                <a:latin typeface="Microsoft YaHei"/>
              </a:rPr>
              <a:t>数据与外部服务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142231"/>
            <a:ext cx="78181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SQLite + 上传文件    |    Anthropic / OpenAI 兼容模型    |    Embedding 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5230368"/>
            <a:ext cx="102870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5385816"/>
            <a:ext cx="1097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架构优势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50592" y="5367528"/>
            <a:ext cx="2505456" cy="420624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23744" y="5413248"/>
            <a:ext cx="2359152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Microsoft YaHei"/>
              </a:rPr>
              <a:t>前后端分离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0" y="5367528"/>
            <a:ext cx="2505456" cy="420624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85232" y="5413248"/>
            <a:ext cx="2359152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Microsoft YaHei"/>
              </a:rPr>
              <a:t>模型/检索/数据库可替换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8" y="5367528"/>
            <a:ext cx="2505456" cy="420624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5413248"/>
            <a:ext cx="2359152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Microsoft YaHei"/>
              </a:rPr>
              <a:t>API 与 Agent 工具复用权限逻辑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核心数据与学习闭环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43000"/>
            <a:ext cx="1417320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271016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143000"/>
            <a:ext cx="1417320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4872" y="1188720"/>
            <a:ext cx="1271016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Course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43000"/>
            <a:ext cx="1417320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188720"/>
            <a:ext cx="1271016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Material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43000"/>
            <a:ext cx="1417320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188720"/>
            <a:ext cx="1271016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Chunk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2377440"/>
            <a:ext cx="1417320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2423160"/>
            <a:ext cx="1271016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Conversation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377440"/>
            <a:ext cx="1874519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2423160"/>
            <a:ext cx="1728216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Message + Citation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143000"/>
            <a:ext cx="1417320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1188720"/>
            <a:ext cx="1271016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StudyPlan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2377440"/>
            <a:ext cx="1417320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1512" y="2423160"/>
            <a:ext cx="1271016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Task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84248" y="1426464"/>
            <a:ext cx="347472" cy="0"/>
          </a:xfrm>
          <a:prstGeom prst="line">
            <a:avLst/>
          </a:prstGeom>
          <a:ln w="1778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49039" y="1426464"/>
            <a:ext cx="502921" cy="0"/>
          </a:xfrm>
          <a:prstGeom prst="line">
            <a:avLst/>
          </a:prstGeom>
          <a:ln w="1778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69280" y="1426464"/>
            <a:ext cx="502920" cy="0"/>
          </a:xfrm>
          <a:prstGeom prst="line">
            <a:avLst/>
          </a:prstGeom>
          <a:ln w="1778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35808" y="1709928"/>
            <a:ext cx="0" cy="667512"/>
          </a:xfrm>
          <a:prstGeom prst="line">
            <a:avLst/>
          </a:prstGeom>
          <a:ln w="1778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49039" y="2660904"/>
            <a:ext cx="502921" cy="0"/>
          </a:xfrm>
          <a:prstGeom prst="line">
            <a:avLst/>
          </a:prstGeom>
          <a:ln w="1778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80160" y="1709928"/>
            <a:ext cx="7315200" cy="0"/>
          </a:xfrm>
          <a:prstGeom prst="line">
            <a:avLst/>
          </a:prstGeom>
          <a:ln w="1778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89720" y="1645920"/>
            <a:ext cx="822960" cy="731520"/>
          </a:xfrm>
          <a:prstGeom prst="line">
            <a:avLst/>
          </a:prstGeom>
          <a:ln w="1778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9808" y="3246120"/>
            <a:ext cx="106527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5F6B73"/>
                </a:solidFill>
                <a:latin typeface="Microsoft YaHei"/>
              </a:rPr>
              <a:t>8 张业务表把“回答”和“执行结果”都持久化，避免智能功能成为一次性输出。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96512"/>
            <a:ext cx="1463040" cy="6858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4142232"/>
            <a:ext cx="1316736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上传资料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4279392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23160" y="4096512"/>
            <a:ext cx="1463040" cy="6858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96312" y="4142232"/>
            <a:ext cx="1316736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抽取/切片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279392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4096512"/>
            <a:ext cx="1463040" cy="685800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16552" y="4142232"/>
            <a:ext cx="1316736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检索与引用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279392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4096512"/>
            <a:ext cx="1463040" cy="685800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4142232"/>
            <a:ext cx="1316736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Agent 决策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279392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83880" y="4096512"/>
            <a:ext cx="1463040" cy="685800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2" y="4142232"/>
            <a:ext cx="1316736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计划或任务落库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279392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04120" y="4096512"/>
            <a:ext cx="1463040" cy="685800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77272" y="4142232"/>
            <a:ext cx="1316736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日历跟踪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78992" y="5285232"/>
            <a:ext cx="10040112" cy="73152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25880" y="5486400"/>
            <a:ext cx="95554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闭环价值：资料给 Agent 提供事实，Agent 生成的计划变成任务，任务状态又为后续安排提供反馈。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用户认证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功能与实现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3886200" cy="114300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033272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为什么需要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89888"/>
            <a:ext cx="3593592" cy="6126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学习资料、对话和计划属于个人数据，需要明确访问边界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221992"/>
            <a:ext cx="3886200" cy="24231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322576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实现方法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679192"/>
            <a:ext cx="3593592" cy="18928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PBKDF2 加盐哈希保存密码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JWT 签名与过期时间维护会话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Vue Router 守卫拦截未登录页面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Pinia 在页面刷新后通过 /auth/me 恢复用户信息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4791456"/>
            <a:ext cx="3886200" cy="129844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892040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亮点与优势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5248656"/>
            <a:ext cx="3593592" cy="7680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所有业务接口复用当前用户依赖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认证、路由与 API 错误处理保持统一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3712" y="1005840"/>
            <a:ext cx="7178040" cy="4956048"/>
          </a:xfrm>
          <a:prstGeom prst="rect">
            <a:avLst/>
          </a:prstGeom>
          <a:solidFill>
            <a:srgbClr val="FFFFFF"/>
          </a:solidFill>
          <a:ln w="1524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263586"/>
            <a:ext cx="7104888" cy="44405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53712" y="5998464"/>
            <a:ext cx="7178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3"/>
                </a:solidFill>
                <a:latin typeface="Microsoft YaHei"/>
              </a:rPr>
              <a:t>系统统一登录入口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个人中心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功能与实现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3886200" cy="114300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033272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为什么需要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89888"/>
            <a:ext cx="3593592" cy="6126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课程、计划、任务和对话分布在不同模块，需要统一概览入口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221992"/>
            <a:ext cx="3886200" cy="24231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322576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实现方法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679192"/>
            <a:ext cx="3593592" cy="18928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并行获取课程、学习计划、未完成任务和对话数量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展示最近对话并提供课程快捷跳转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支持修改昵称和密码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统计卡片可直接进入课程、计划和任务页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4791456"/>
            <a:ext cx="3886200" cy="129844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892040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亮点与优势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5248656"/>
            <a:ext cx="3593592" cy="7680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把分散的学习数据汇总成个人仪表盘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复用已有 RESTful API，不增加重复统计端点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3712" y="1005840"/>
            <a:ext cx="7178040" cy="4956048"/>
          </a:xfrm>
          <a:prstGeom prst="rect">
            <a:avLst/>
          </a:prstGeom>
          <a:solidFill>
            <a:srgbClr val="FFFFFF"/>
          </a:solidFill>
          <a:ln w="1524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263586"/>
            <a:ext cx="7104888" cy="44405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53712" y="5998464"/>
            <a:ext cx="7178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3"/>
                </a:solidFill>
                <a:latin typeface="Microsoft YaHei"/>
              </a:rPr>
              <a:t>个人中心统计、账号信息与最近对话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课程管理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功能与实现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3886200" cy="114300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033272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为什么需要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89888"/>
            <a:ext cx="3593592" cy="6126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多门课程的资料、问答和任务需要清晰边界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221992"/>
            <a:ext cx="3886200" cy="24231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322576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实现方法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679192"/>
            <a:ext cx="3593592" cy="18928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课程字段包含名称、简介、教师和学期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FastAPI + SQLAlchemy 完成 CRUD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前端以响应式卡片展示并提供问答快捷入口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删除时处理资料、对话及计划任务关系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4791456"/>
            <a:ext cx="3886200" cy="129844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892040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亮点与优势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5248656"/>
            <a:ext cx="3593592" cy="7680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以课程作为资料和 Agent 的隔离边界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不同用户访问他人对象统一返回不存在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3712" y="1005840"/>
            <a:ext cx="7178040" cy="4956048"/>
          </a:xfrm>
          <a:prstGeom prst="rect">
            <a:avLst/>
          </a:prstGeom>
          <a:solidFill>
            <a:srgbClr val="FFFFFF"/>
          </a:solidFill>
          <a:ln w="1524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ur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263586"/>
            <a:ext cx="7104888" cy="44405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53712" y="5998464"/>
            <a:ext cx="7178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3"/>
                </a:solidFill>
                <a:latin typeface="Microsoft YaHei"/>
              </a:rPr>
              <a:t>课程卡片同时展示核心信息与常用操作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课程资料管理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功能与实现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3886200" cy="114300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033272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为什么需要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89888"/>
            <a:ext cx="3593592" cy="6126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课件、笔记、作业和实验文档需要统一归档和检索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221992"/>
            <a:ext cx="3886200" cy="24231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322576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实现方法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679192"/>
            <a:ext cx="3593592" cy="18928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支持拖拽或点击选择，单批最多 10 个文件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批量队列校验空文件、重复文件和 50MB 大小限制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成功文件移出队列，失败文件保留重试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原文件保存到上传目录，元数据写入 materials 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4791456"/>
            <a:ext cx="3886200" cy="129844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892040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亮点与优势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5248656"/>
            <a:ext cx="3593592" cy="7680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资料上传、分类与正文检索集中呈现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批量有进度反馈，失败文件可直接重试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3712" y="1005840"/>
            <a:ext cx="7178040" cy="4956048"/>
          </a:xfrm>
          <a:prstGeom prst="rect">
            <a:avLst/>
          </a:prstGeom>
          <a:solidFill>
            <a:srgbClr val="FFFFFF"/>
          </a:solidFill>
          <a:ln w="1524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aterial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263586"/>
            <a:ext cx="7104888" cy="44405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53712" y="5998464"/>
            <a:ext cx="7178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3"/>
                </a:solidFill>
                <a:latin typeface="Microsoft YaHei"/>
              </a:rPr>
              <a:t>拖拽批量上传、分类列表和正文检索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多格式解析与资料检索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功能与实现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353312"/>
            <a:ext cx="1783080" cy="96012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1636776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63238"/>
                </a:solidFill>
                <a:latin typeface="Microsoft YaHei"/>
              </a:rPr>
              <a:t>TXT / MD
PDF / DOCX /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664208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353312"/>
            <a:ext cx="1783080" cy="96012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399032"/>
            <a:ext cx="1636776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63238"/>
                </a:solidFill>
                <a:latin typeface="Microsoft YaHei"/>
              </a:rPr>
              <a:t>文本抽取
页码/幻灯片标记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1664208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7" y="1353312"/>
            <a:ext cx="1783080" cy="960120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1399032"/>
            <a:ext cx="1636776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63238"/>
                </a:solidFill>
                <a:latin typeface="Microsoft YaHei"/>
              </a:rPr>
              <a:t>600 字切片
100 字重叠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7" y="1664208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1353312"/>
            <a:ext cx="1783080" cy="960120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1399032"/>
            <a:ext cx="1636776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63238"/>
                </a:solidFill>
                <a:latin typeface="Microsoft YaHei"/>
              </a:rPr>
              <a:t>Embedding
余弦相似度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1664208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02367" y="1353312"/>
            <a:ext cx="1783080" cy="96012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19" y="1399032"/>
            <a:ext cx="1636776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63238"/>
                </a:solidFill>
                <a:latin typeface="Microsoft YaHei"/>
              </a:rPr>
              <a:t>语义检索
Top-K 片段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971800"/>
            <a:ext cx="3401568" cy="1572768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072384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为什么这样做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429000"/>
            <a:ext cx="3108960" cy="10424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通用模型不知道学生自己的课程资料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直接将整份文档放入上下文成本高且无法精确引用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2971800"/>
            <a:ext cx="3401568" cy="157276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9704" y="3072384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如何容错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704" y="3429000"/>
            <a:ext cx="3108960" cy="10424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未配置 Embedding 或调用失败时自动改用关键词打分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最多扫描单课程 3000 个切片，限制计算范围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2971800"/>
            <a:ext cx="3493008" cy="157276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6" y="3072384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亮点与优势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6" y="3429000"/>
            <a:ext cx="3200400" cy="10424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向量检索处理同义表达，关键词检索保证离线可用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每个命中片段保留资料 ID 和切片 ID，为引用追溯打基础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5166360"/>
            <a:ext cx="10104120" cy="713232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61872" y="5376672"/>
            <a:ext cx="9601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结果：用户可以按“导数”、“进程调度”等知识词定位正文，Agent 也可用多组关键词自主检索。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完整工具驱动 Agent 对话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功能与实现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3886200" cy="114300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033272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为什么需要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89888"/>
            <a:ext cx="3593592" cy="6126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固定的“检索一次后作答”无法换词重试，也不能直接操作任务和计划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221992"/>
            <a:ext cx="3886200" cy="24231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322576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实现方法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679192"/>
            <a:ext cx="3593592" cy="18928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向模型提供资料、课程、任务和计划共 10 个工具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模型决定调用哪个工具、调多少轮、何时作答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最多 8 轮循环，避免异常无限调用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SSE 将 meta / tool / delta / done 事件实时展示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4791456"/>
            <a:ext cx="3886200" cy="129844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892040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亮点与优势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5248656"/>
            <a:ext cx="3593592" cy="7680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流式与非流式接口复用同一 Agent 入口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Anthropic 和 OpenAI 兼容协议共用业务工具集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3712" y="1005840"/>
            <a:ext cx="7178040" cy="4956048"/>
          </a:xfrm>
          <a:prstGeom prst="rect">
            <a:avLst/>
          </a:prstGeom>
          <a:solidFill>
            <a:srgbClr val="FFFFFF"/>
          </a:solidFill>
          <a:ln w="1524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263586"/>
            <a:ext cx="7104888" cy="44405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53712" y="5998464"/>
            <a:ext cx="7178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3"/>
                </a:solidFill>
                <a:latin typeface="Microsoft YaHei"/>
              </a:rPr>
              <a:t>Agent 在一轮对话中完成多次检索、查任务和创建任务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资料来源展示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高级功能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3886200" cy="114300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033272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为什么需要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89888"/>
            <a:ext cx="3593592" cy="6126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基于私有资料的回答需要让用户能够核查依据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221992"/>
            <a:ext cx="3886200" cy="24231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322576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实现方法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679192"/>
            <a:ext cx="3593592" cy="18928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检索命中后以 chunk_id 去重并分配稳定编号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模型看到的工具结果包含 [编号] 引用提示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citations_json 保存资料 ID、名称和原文摘录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回答正文显示编号，底部显示可悬停来源标签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4791456"/>
            <a:ext cx="3886200" cy="129844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892040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亮点与优势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5248656"/>
            <a:ext cx="3593592" cy="7680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多轮检索中同一片段不会重复编号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历史消息保留当时的引用快照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3712" y="1005840"/>
            <a:ext cx="7178040" cy="4956048"/>
          </a:xfrm>
          <a:prstGeom prst="rect">
            <a:avLst/>
          </a:prstGeom>
          <a:solidFill>
            <a:srgbClr val="FFFFFF"/>
          </a:solidFill>
          <a:ln w="1524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gent_sources_click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263586"/>
            <a:ext cx="7104888" cy="44405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53712" y="5998464"/>
            <a:ext cx="7178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3"/>
                </a:solidFill>
                <a:latin typeface="Microsoft YaHei"/>
              </a:rPr>
              <a:t>Agent 回答正文、编号引用与参考资料标签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资料来源点击跳转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高级功能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3886200" cy="114300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033272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为什么需要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89888"/>
            <a:ext cx="3593592" cy="6126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只显示资料名仍需要用户自己在资料列表中再次查找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221992"/>
            <a:ext cx="3886200" cy="24231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322576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实现方法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679192"/>
            <a:ext cx="3593592" cy="18928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来源标签使用 material_id 和引用编号构造路由查询参数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点击或键盘 Enter 均可跳转到课程资料页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资料页根据 material_id 定位对应行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页面显示来源提示，并以蓝色背景和左边框高亮目标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4791456"/>
            <a:ext cx="3886200" cy="129844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892040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亮点与优势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5248656"/>
            <a:ext cx="3593592" cy="7680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从回答到原始资料只需一次点击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用户可继续下载原文或检索资料内容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3712" y="1005840"/>
            <a:ext cx="7178040" cy="4956048"/>
          </a:xfrm>
          <a:prstGeom prst="rect">
            <a:avLst/>
          </a:prstGeom>
          <a:solidFill>
            <a:srgbClr val="FFFFFF"/>
          </a:solidFill>
          <a:ln w="1524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ource_ju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263586"/>
            <a:ext cx="7104888" cy="44405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53712" y="5998464"/>
            <a:ext cx="7178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3"/>
                </a:solidFill>
                <a:latin typeface="Microsoft YaHei"/>
              </a:rPr>
              <a:t>跳转后显示引用编号、资料名并高亮目标资料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知识点整理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功能与实现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3886200" cy="114300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033272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为什么需要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89888"/>
            <a:ext cx="3593592" cy="6126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资料已归档并不等于已形成可复习的知识结构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221992"/>
            <a:ext cx="3886200" cy="24231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322576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实现方法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679192"/>
            <a:ext cx="3593592" cy="18928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读取全部切片并识别 Chap / Chapter / 第 N 章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每批最多 50 个切片或约 30000 字符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后端同时处理最多 3 批，按原位置组装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SSE 实时返回批次进度和耗时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4791456"/>
            <a:ext cx="3886200" cy="129844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892040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亮点与优势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5248656"/>
            <a:ext cx="3593592" cy="7680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兼顾全部章节覆盖与生成速度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进度可见，最终顺序与全局 [编号] 保持稳定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3712" y="1005840"/>
            <a:ext cx="7178040" cy="4956048"/>
          </a:xfrm>
          <a:prstGeom prst="rect">
            <a:avLst/>
          </a:prstGeom>
          <a:solidFill>
            <a:srgbClr val="FFFFFF"/>
          </a:solidFill>
          <a:ln w="1524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knowledg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263586"/>
            <a:ext cx="7104888" cy="44405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53712" y="5998464"/>
            <a:ext cx="7178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3"/>
                </a:solidFill>
                <a:latin typeface="Microsoft YaHei"/>
              </a:rPr>
              <a:t>按资料章节与原文顺序生成完整复习提纲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单课程学习计划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功能与实现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3886200" cy="114300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033272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为什么需要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89888"/>
            <a:ext cx="3593592" cy="6126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“两周复习完”缺少阶段划分和每日工作量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221992"/>
            <a:ext cx="3886200" cy="24231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322576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实现方法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679192"/>
            <a:ext cx="3593592" cy="18928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输入课程、学习目标、截止日期和每日时长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返回 overview、stages 和 daily_tasks 结构化结果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Pydantic 校验日期、时长和任务数量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计划保存后自动批量创建待办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4791456"/>
            <a:ext cx="3886200" cy="129844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892040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亮点与优势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5248656"/>
            <a:ext cx="3593592" cy="7680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生成的不是一段文字，而是可编辑、可跟踪的计划记录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离线模式用确定性日期规则生成基础计划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3712" y="1005840"/>
            <a:ext cx="7178040" cy="4956048"/>
          </a:xfrm>
          <a:prstGeom prst="rect">
            <a:avLst/>
          </a:prstGeom>
          <a:solidFill>
            <a:srgbClr val="FFFFFF"/>
          </a:solidFill>
          <a:ln w="1524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l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263586"/>
            <a:ext cx="7104888" cy="44405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53712" y="5998464"/>
            <a:ext cx="7178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3"/>
                </a:solidFill>
                <a:latin typeface="Microsoft YaHei"/>
              </a:rPr>
              <a:t>学习目标被转换为阶段任务和每日待办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智能任务拆解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高级功能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17320"/>
            <a:ext cx="1847088" cy="841248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3" y="1463040"/>
            <a:ext cx="1700784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63238"/>
                </a:solidFill>
                <a:latin typeface="Microsoft YaHei"/>
              </a:rPr>
              <a:t>目标 + 期限 + 每日时长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2576" y="1691640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8064" y="1417320"/>
            <a:ext cx="1847088" cy="84124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1216" y="1463040"/>
            <a:ext cx="1700784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63238"/>
                </a:solidFill>
                <a:latin typeface="Microsoft YaHei"/>
              </a:rPr>
              <a:t>结构化 JSON 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691640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1417320"/>
            <a:ext cx="1847088" cy="84124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1463040"/>
            <a:ext cx="1700784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63238"/>
                </a:solidFill>
                <a:latin typeface="Microsoft YaHei"/>
              </a:rPr>
              <a:t>Schema 校验与日期归一化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691640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16368" y="1417320"/>
            <a:ext cx="1847088" cy="84124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463040"/>
            <a:ext cx="1700784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63238"/>
                </a:solidFill>
                <a:latin typeface="Microsoft YaHei"/>
              </a:rPr>
              <a:t>保存 StudyPlan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1691640"/>
            <a:ext cx="34747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1417320"/>
            <a:ext cx="1847088" cy="841248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8672" y="1463040"/>
            <a:ext cx="1700784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63238"/>
                </a:solidFill>
                <a:latin typeface="Microsoft YaHei"/>
              </a:rPr>
              <a:t>批量生成 Task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834640"/>
            <a:ext cx="3337560" cy="155448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2935224"/>
            <a:ext cx="304495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为什么需要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3291840"/>
            <a:ext cx="3044952" cy="10241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学习目标往往粒度过大，不能直接执行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单纯输出建议无法进入任务管理闭环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2834640"/>
            <a:ext cx="3337560" cy="15544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2935224"/>
            <a:ext cx="304495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关键实现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3291840"/>
            <a:ext cx="3044952" cy="10241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阶段任务表达方向，每日任务表达可执行动作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每条任务保留课程、计划和截止日期关联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2834640"/>
            <a:ext cx="3447288" cy="1554480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2935224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边界与优势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291840"/>
            <a:ext cx="3154680" cy="10241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单次最多生成 60 条待办，防止异常输出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计划与任务分开存储，删除计划不会丢失已执行任务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61872" y="5102352"/>
            <a:ext cx="9646920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36192" y="5367528"/>
            <a:ext cx="909828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亮点：Agent 在对话中也能直接调用 create_study_plan 或 create_task，将自然语言指令变成真实数据。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多课程综合学习规划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功能与实现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3886200" cy="114300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033272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为什么需要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89888"/>
            <a:ext cx="3593592" cy="6126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多门课程同时有截止日期时，单独规划容易造成时间冲突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221992"/>
            <a:ext cx="3886200" cy="24231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322576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实现方法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679192"/>
            <a:ext cx="3593592" cy="18928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接收多组课程 ID、目标、期限和每日总时长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将课程信息与各自目标同时提供给计划服务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每条 daily_task 必须返回课程归属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后端校验课程 ID 属于当前用户且在本次请求中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4791456"/>
            <a:ext cx="3886200" cy="129844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892040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亮点与优势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5248656"/>
            <a:ext cx="3593592" cy="7680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保留课程归属，在任务页可分课程跟踪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离线时按课程数和日期平均分配时间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3712" y="1005840"/>
            <a:ext cx="7178040" cy="4956048"/>
          </a:xfrm>
          <a:prstGeom prst="rect">
            <a:avLst/>
          </a:prstGeom>
          <a:solidFill>
            <a:srgbClr val="FFFFFF"/>
          </a:solidFill>
          <a:ln w="1524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l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263586"/>
            <a:ext cx="7104888" cy="44405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53712" y="5998464"/>
            <a:ext cx="7178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3"/>
                </a:solidFill>
                <a:latin typeface="Microsoft YaHei"/>
              </a:rPr>
              <a:t>高等数学与操作系统共享每日学习时间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待办任务、日历与到期提醒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功能与实现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3886200" cy="114300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033272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为什么需要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89888"/>
            <a:ext cx="3593592" cy="6126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手动作业、计划生成任务和 Agent 创建任务需要统一跟踪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221992"/>
            <a:ext cx="3886200" cy="24231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322576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实现方法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679192"/>
            <a:ext cx="3593592" cy="18928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任务支持创建、更新、完成、删除和课程筛选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列表视图按紧急程度排序，日历视图按日期展示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提醒接口把未完成任务分为已逾期、今日和三日内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登录后全局提醒，任务页同步显示统计卡片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4791456"/>
            <a:ext cx="3886200" cy="129844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892040"/>
            <a:ext cx="3593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亮点与优势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5248656"/>
            <a:ext cx="3593592" cy="7680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三种任务来源共用一套数据和状态规则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日历将“任务清单”变成“时间安排”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3712" y="1005840"/>
            <a:ext cx="7178040" cy="4956048"/>
          </a:xfrm>
          <a:prstGeom prst="rect">
            <a:avLst/>
          </a:prstGeom>
          <a:solidFill>
            <a:srgbClr val="FFFFFF"/>
          </a:solidFill>
          <a:ln w="1524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asks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263586"/>
            <a:ext cx="7104888" cy="44405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53712" y="5998464"/>
            <a:ext cx="717804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3"/>
                </a:solidFill>
                <a:latin typeface="Microsoft YaHei"/>
              </a:rPr>
              <a:t>到期统计、月度日历与任务完成状态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RESTful API 与数据存储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后端服务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960120"/>
            <a:ext cx="3547872" cy="107899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3" y="1069848"/>
            <a:ext cx="914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认证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1060704"/>
            <a:ext cx="22860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B73"/>
                </a:solidFill>
                <a:latin typeface="Microsoft YaHei"/>
              </a:rPr>
              <a:t>/auth/register
/auth/login
/auth/me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960120"/>
            <a:ext cx="3547872" cy="107899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069848"/>
            <a:ext cx="914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课程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1060704"/>
            <a:ext cx="22860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B73"/>
                </a:solidFill>
                <a:latin typeface="Microsoft YaHei"/>
              </a:rPr>
              <a:t>/courses
/courses/{id}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960120"/>
            <a:ext cx="3547872" cy="107899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1069848"/>
            <a:ext cx="914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资料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4584" y="1060704"/>
            <a:ext cx="22860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B73"/>
                </a:solidFill>
                <a:latin typeface="Microsoft YaHei"/>
              </a:rPr>
              <a:t>/courses/{id}/materials
/materials/{id}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2313432"/>
            <a:ext cx="3547872" cy="107899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3" y="2423160"/>
            <a:ext cx="914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2414016"/>
            <a:ext cx="22860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B73"/>
                </a:solidFill>
                <a:latin typeface="Microsoft YaHei"/>
              </a:rPr>
              <a:t>/conversations/{id}/messages
/messages/stream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313432"/>
            <a:ext cx="3547872" cy="107899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423160"/>
            <a:ext cx="914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2414016"/>
            <a:ext cx="22860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B73"/>
                </a:solidFill>
                <a:latin typeface="Microsoft YaHei"/>
              </a:rPr>
              <a:t>/plans
/plans/multi-course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3024" y="2313432"/>
            <a:ext cx="3547872" cy="107899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2423160"/>
            <a:ext cx="9144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2414016"/>
            <a:ext cx="22860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B73"/>
                </a:solidFill>
                <a:latin typeface="Microsoft YaHei"/>
              </a:rPr>
              <a:t>/tasks
/tasks/reminders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" y="3886200"/>
            <a:ext cx="5266944" cy="19385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986784"/>
            <a:ext cx="497433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实现方法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43400"/>
            <a:ext cx="4974336" cy="1408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FastAPI 路由层处理身份依赖、参数校验和响应模型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SQLAlchemy 2.0 表达对象关系，Pydantic v2 校验请求与响应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上传文件与 SQLite 元数据分离存储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普通消息与 SSE 消息共用完整 Agent 循环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18504" y="3886200"/>
            <a:ext cx="5266944" cy="193852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3986784"/>
            <a:ext cx="497433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亮点与优势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4343400"/>
            <a:ext cx="4974336" cy="1408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34 个 OpenAPI 操作自动生成 Swagger 文档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DATABASE_URL 可将 SQLite 替换为其他数据库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路由、Schema、ORM 和服务层分离，新增功能不必修改无关模块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• 数据库与上传文件删除顺序考虑一致性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可用性、安全与降级设计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工程质量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3520440" cy="1847088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29718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用户隔离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306324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每次课程、资料、对话、任务操作重新校验归属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05840"/>
            <a:ext cx="3520440" cy="184708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170432"/>
            <a:ext cx="29718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密码与令牌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627632"/>
            <a:ext cx="306324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PBKDF2 加盐哈希；JWT 签名、过期与登录失效处理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005840"/>
            <a:ext cx="3520440" cy="184708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170432"/>
            <a:ext cx="29718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70AD47"/>
                </a:solidFill>
                <a:latin typeface="Microsoft YaHei"/>
              </a:rPr>
              <a:t>文件安全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627632"/>
            <a:ext cx="306324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上传限制 50 MB，文件名净化，下载前再次检查所有权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46120"/>
            <a:ext cx="3520440" cy="1847088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10712"/>
            <a:ext cx="29718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70AD47"/>
                </a:solidFill>
                <a:latin typeface="Microsoft YaHei"/>
              </a:rPr>
              <a:t>前端渲染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67912"/>
            <a:ext cx="306324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Markdown 经 DOMPurify 消毒，过滤恶意标签、事件和 URL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246120"/>
            <a:ext cx="3520440" cy="1847088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410712"/>
            <a:ext cx="29718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ED7D31"/>
                </a:solidFill>
                <a:latin typeface="Microsoft YaHei"/>
              </a:rPr>
              <a:t>模型降级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867912"/>
            <a:ext cx="306324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无 LLM 时问答返回检索片段，计划按确定性规则拆分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246120"/>
            <a:ext cx="3520440" cy="1847088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410712"/>
            <a:ext cx="29718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ED7D31"/>
                </a:solidFill>
                <a:latin typeface="Microsoft YaHei"/>
              </a:rPr>
              <a:t>检索降级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867912"/>
            <a:ext cx="306324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Embedding 未配置或失败时自动使用关键词检索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596128"/>
            <a:ext cx="104241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760720"/>
            <a:ext cx="996696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Microsoft YaHei"/>
              </a:rPr>
              <a:t>设计原则：AI 是可选增强能力，不是课程、资料和任务基础业务的单点依赖。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测试覆盖与验证结果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工程质量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2624328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170432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2F75B5"/>
                </a:solidFill>
                <a:latin typeface="Microsoft YaHei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719072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63238"/>
                </a:solidFill>
                <a:latin typeface="Microsoft YaHei"/>
              </a:rPr>
              <a:t>后端 pytest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084831"/>
            <a:ext cx="2267712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3"/>
                </a:solidFill>
                <a:latin typeface="Microsoft YaHei"/>
              </a:rPr>
              <a:t>含并发分批与 SSE 进度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1" y="1005840"/>
            <a:ext cx="2624328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170432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70AD47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719072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63238"/>
                </a:solidFill>
                <a:latin typeface="Microsoft YaHei"/>
              </a:rPr>
              <a:t>前端 Vitest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084831"/>
            <a:ext cx="2267712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3"/>
                </a:solidFill>
                <a:latin typeface="Microsoft YaHei"/>
              </a:rPr>
              <a:t>Markdown 安全渲染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005840"/>
            <a:ext cx="2624328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170432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ED7D31"/>
                </a:solidFill>
                <a:latin typeface="Microsoft YaHei"/>
              </a:rPr>
              <a:t>通过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719072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63238"/>
                </a:solidFill>
                <a:latin typeface="Microsoft YaHei"/>
              </a:rPr>
              <a:t>Vite 生产构建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5" y="2084831"/>
            <a:ext cx="2267712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3"/>
                </a:solidFill>
                <a:latin typeface="Microsoft YaHei"/>
              </a:rPr>
              <a:t>新增来源跳转后重新验证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9136" y="1005840"/>
            <a:ext cx="2624328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1170432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  <a:latin typeface="Microsoft YaHe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1719072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63238"/>
                </a:solidFill>
                <a:latin typeface="Microsoft YaHei"/>
              </a:rPr>
              <a:t>已知依赖漏洞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084831"/>
            <a:ext cx="2267712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3"/>
                </a:solidFill>
                <a:latin typeface="Microsoft YaHei"/>
              </a:rPr>
              <a:t>npm audit 结果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3017520"/>
            <a:ext cx="10104120" cy="53035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3127248"/>
            <a:ext cx="1353312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</a:rPr>
              <a:t>业务 CRUD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3127248"/>
            <a:ext cx="790956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认证、课程、资料、任务、计划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3630168"/>
            <a:ext cx="10104120" cy="530352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3739896"/>
            <a:ext cx="1353312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</a:rPr>
              <a:t>资料处理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739896"/>
            <a:ext cx="790956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DOCX/PPTX 抽取、切片、关键词与向量排序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4242816"/>
            <a:ext cx="10104120" cy="53035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352544"/>
            <a:ext cx="1353312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</a:rPr>
              <a:t>Agent 协议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352544"/>
            <a:ext cx="790956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OpenAI tool_calls 与 Anthropic tool_use/tool_result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" y="4855464"/>
            <a:ext cx="10104120" cy="530352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4965192"/>
            <a:ext cx="1353312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</a:rPr>
              <a:t>数据安全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4965192"/>
            <a:ext cx="790956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跨用户访问、工具越权、XSS 消毒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5468112"/>
            <a:ext cx="10104120" cy="53035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5577840"/>
            <a:ext cx="1353312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</a:rPr>
              <a:t>可用性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5577840"/>
            <a:ext cx="790956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离线问答、规划降级、SSE 中断与存档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项目亮点与实际优势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960120"/>
            <a:ext cx="10881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960120"/>
            <a:ext cx="109728" cy="84124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124712"/>
            <a:ext cx="34747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115568"/>
            <a:ext cx="20574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可执行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088136"/>
            <a:ext cx="745236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不只回答，还可自主查资料、查任务、创建任务和保存计划。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65960"/>
            <a:ext cx="10881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965960"/>
            <a:ext cx="109728" cy="84124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130552"/>
            <a:ext cx="34747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70AD47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121408"/>
            <a:ext cx="20574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可核查来源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093976"/>
            <a:ext cx="745236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稳定编号、片段摘录、历史快照和点击跳转共同降低不可追溯性。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971800"/>
            <a:ext cx="10881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71800"/>
            <a:ext cx="109728" cy="8412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136392"/>
            <a:ext cx="34747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ED7D31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127248"/>
            <a:ext cx="20574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模型可替换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099816"/>
            <a:ext cx="745236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Anthropic 和 OpenAI 兼容协议统一，通过环境变量切换模型与 Base URL。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77640"/>
            <a:ext cx="10881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77640"/>
            <a:ext cx="109728" cy="8412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142232"/>
            <a:ext cx="34747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133088"/>
            <a:ext cx="20574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在线/离线统一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105656"/>
            <a:ext cx="745236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无密钥或外部服务失败时仍能演示完整基础业务和确定性降级。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983480"/>
            <a:ext cx="10881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C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983480"/>
            <a:ext cx="109728" cy="84124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148072"/>
            <a:ext cx="34747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5138928"/>
            <a:ext cx="20574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学习业务闭环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5111496"/>
            <a:ext cx="745236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Microsoft YaHei"/>
              </a:rPr>
              <a:t>资料入库、知识问答、计划拆解、任务提醒和进度反馈串成完整流程。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896112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总结与现场演示路线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137160"/>
            <a:ext cx="2331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CE6F1"/>
                </a:solidFill>
                <a:latin typeface="Microsoft YaHei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73952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B73"/>
                </a:solidFill>
                <a:latin typeface="Microsoft YaHei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234440"/>
            <a:ext cx="1499616" cy="82296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353312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登录并查看课程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1517904"/>
            <a:ext cx="310896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04872" y="1234440"/>
            <a:ext cx="1499616" cy="82296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8024" y="1280160"/>
            <a:ext cx="1353312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上传资料并检索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1517904"/>
            <a:ext cx="310896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234440"/>
            <a:ext cx="1499616" cy="822960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280160"/>
            <a:ext cx="1353312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Agent 多轮调用工具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1517904"/>
            <a:ext cx="310896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234440"/>
            <a:ext cx="1499616" cy="822960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280160"/>
            <a:ext cx="1353312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点击来源跳转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8975" y="1517904"/>
            <a:ext cx="310896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3" y="1234440"/>
            <a:ext cx="1499616" cy="82296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5" y="1280160"/>
            <a:ext cx="1353312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生成多课程计划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59" y="1517904"/>
            <a:ext cx="310896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F75B5"/>
                </a:solidFill>
                <a:latin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22407" y="1234440"/>
            <a:ext cx="1499616" cy="82296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59" y="1280160"/>
            <a:ext cx="1353312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63238"/>
                </a:solidFill>
                <a:latin typeface="Microsoft YaHei"/>
              </a:rPr>
              <a:t>在日历中跟踪任务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788920"/>
            <a:ext cx="10716768" cy="10515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2971800"/>
            <a:ext cx="1508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F4E79"/>
                </a:solidFill>
                <a:latin typeface="Microsoft YaHei"/>
              </a:rPr>
              <a:t>项目结论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2944368"/>
            <a:ext cx="841248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263238"/>
                </a:solidFill>
                <a:latin typeface="Microsoft YaHei"/>
              </a:rPr>
              <a:t>系统完成了从“管理学习资料”到“根据资料执行学习计划”的转变；Agent 的每个回答可核查，每个计划可落地，每个任务可跟踪。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" y="4315968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416552"/>
            <a:ext cx="309067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F75B5"/>
                </a:solidFill>
                <a:latin typeface="Microsoft YaHei"/>
              </a:rPr>
              <a:t>三人协作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773168"/>
            <a:ext cx="3090672" cy="8869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• 需求与基础后端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• Agent、检索、计划与测试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• 前端、联调、文档与汇报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7408" y="4315968"/>
            <a:ext cx="3383280" cy="1417320"/>
          </a:xfrm>
          <a:prstGeom prst="roundRect">
            <a:avLst/>
          </a:prstGeom>
          <a:solidFill>
            <a:srgbClr val="EAF4E4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4416552"/>
            <a:ext cx="309067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70AD47"/>
                </a:solidFill>
                <a:latin typeface="Microsoft YaHei"/>
              </a:rPr>
              <a:t>AI 伦理声明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773168"/>
            <a:ext cx="3090672" cy="8869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• 人类负责基础规划与需求分析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• AI 仅负责细节代码填写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• 所有结果由人类复核、测试并承担责任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0144" y="4315968"/>
            <a:ext cx="3383280" cy="1417320"/>
          </a:xfrm>
          <a:prstGeom prst="roundRect">
            <a:avLst/>
          </a:prstGeom>
          <a:solidFill>
            <a:srgbClr val="FCEDE3"/>
          </a:solidFill>
          <a:ln w="1270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4416552"/>
            <a:ext cx="309067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Microsoft YaHei"/>
              </a:rPr>
              <a:t>谢谢，请指导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4773168"/>
            <a:ext cx="3090672" cy="8869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• 建议现场优先演示来源跳转和 Agent 创建任务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263238"/>
                </a:solidFill>
                <a:latin typeface="Microsoft YaHei"/>
              </a:rPr>
              <a:t>• 问答时可回到架构、检索、安全与测试页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课程学习助手 Agent 平台新版汇报</dc:title>
  <dc:subject>大型程序设计实践汇报</dc:subject>
  <dc:creator>课程学习助手 Agent 平台项目组</dc:creator>
  <cp:keywords>Agent, RAG, 课程学习, FastAPI, Vue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